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7" r:id="rId4"/>
    <p:sldId id="268" r:id="rId5"/>
    <p:sldId id="269" r:id="rId6"/>
    <p:sldId id="270" r:id="rId7"/>
    <p:sldId id="266" r:id="rId8"/>
    <p:sldId id="271" r:id="rId9"/>
    <p:sldId id="272" r:id="rId10"/>
  </p:sldIdLst>
  <p:sldSz cx="14630400" cy="8229600"/>
  <p:notesSz cx="8229600" cy="14630400"/>
  <p:embeddedFontLst>
    <p:embeddedFont>
      <p:font typeface="Inconsolata Medium" pitchFamily="1" charset="0"/>
      <p:regular r:id="rId12"/>
    </p:embeddedFont>
    <p:embeddedFont>
      <p:font typeface="Montserrat Black" panose="00000A00000000000000" pitchFamily="2" charset="0"/>
      <p:regular r:id="rId13"/>
      <p:bold r:id="rId14"/>
    </p:embeddedFont>
    <p:embeddedFont>
      <p:font typeface="Montserrat Light" panose="00000400000000000000" pitchFamily="2" charset="0"/>
      <p:regular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93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956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Управление</a:t>
            </a: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на външни запаметяващи устройства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760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Видове, рискове и защита на данните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2941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Георги Емилов Исаев | НФСГ София | Икономическа информатика | 2025/2026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A0A26970-D318-8616-F520-9CB21EA43D83}"/>
              </a:ext>
            </a:extLst>
          </p:cNvPr>
          <p:cNvSpPr/>
          <p:nvPr/>
        </p:nvSpPr>
        <p:spPr>
          <a:xfrm>
            <a:off x="793790" y="854631"/>
            <a:ext cx="98030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Цел и </a:t>
            </a:r>
            <a:r>
              <a:rPr lang="en-US" sz="4450" dirty="0" err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задачи</a:t>
            </a:r>
            <a:r>
              <a:rPr lang="en-US" sz="4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на изследването</a:t>
            </a:r>
            <a:endParaRPr lang="en-US" sz="445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69B9F76C-6A6B-98AB-3CD4-FB44A8BEF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628424"/>
            <a:ext cx="4205168" cy="28026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Text 1">
            <a:extLst>
              <a:ext uri="{FF2B5EF4-FFF2-40B4-BE49-F238E27FC236}">
                <a16:creationId xmlns:a16="http://schemas.microsoft.com/office/drawing/2014/main" id="{522DE896-4A7D-E669-2969-5F479F291ECC}"/>
              </a:ext>
            </a:extLst>
          </p:cNvPr>
          <p:cNvSpPr/>
          <p:nvPr/>
        </p:nvSpPr>
        <p:spPr>
          <a:xfrm>
            <a:off x="5559981" y="213038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Основна цел</a:t>
            </a:r>
            <a:endParaRPr lang="en-US" sz="265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6CA0748A-D8A7-1D2C-5611-2C95DD172679}"/>
              </a:ext>
            </a:extLst>
          </p:cNvPr>
          <p:cNvSpPr/>
          <p:nvPr/>
        </p:nvSpPr>
        <p:spPr>
          <a:xfrm>
            <a:off x="5559981" y="2782491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Анализ на уязвимостите в управлението на външни запаметяващи устройства и разработка на модел за комплексна защита на данните.</a:t>
            </a:r>
            <a:endParaRPr lang="en-US" sz="175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958D9AC-34EA-31E0-8796-DC543D17012E}"/>
              </a:ext>
            </a:extLst>
          </p:cNvPr>
          <p:cNvSpPr/>
          <p:nvPr/>
        </p:nvSpPr>
        <p:spPr>
          <a:xfrm>
            <a:off x="5559981" y="3735110"/>
            <a:ext cx="466058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Четири ключови задачи</a:t>
            </a:r>
            <a:endParaRPr lang="en-US" sz="265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F7B155DC-A25B-8FBD-8178-FFE712C5F44B}"/>
              </a:ext>
            </a:extLst>
          </p:cNvPr>
          <p:cNvSpPr/>
          <p:nvPr/>
        </p:nvSpPr>
        <p:spPr>
          <a:xfrm>
            <a:off x="5559981" y="4387215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Класификация на устройства и интерфейси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Оценка на рисковете по NIST SP 800-30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Изследване на методи за защита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Практическа реализация в Active Directory</a:t>
            </a:r>
            <a:endParaRPr lang="en-US" sz="175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EAE79C6B-4B94-ACED-2012-8BF130229807}"/>
              </a:ext>
            </a:extLst>
          </p:cNvPr>
          <p:cNvSpPr/>
          <p:nvPr/>
        </p:nvSpPr>
        <p:spPr>
          <a:xfrm>
            <a:off x="793790" y="6411158"/>
            <a:ext cx="13042821" cy="963811"/>
          </a:xfrm>
          <a:prstGeom prst="roundRect">
            <a:avLst>
              <a:gd name="adj" fmla="val 949"/>
            </a:avLst>
          </a:prstGeom>
          <a:solidFill>
            <a:srgbClr val="FCF2B5"/>
          </a:solidFill>
          <a:ln/>
        </p:spPr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B6A38B03-BEEE-8DBA-6EF1-E2F858DE1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747629"/>
            <a:ext cx="283488" cy="226814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BA480D1C-6FE6-96C9-D1B7-E19EFBEFF2F8}"/>
              </a:ext>
            </a:extLst>
          </p:cNvPr>
          <p:cNvSpPr/>
          <p:nvPr/>
        </p:nvSpPr>
        <p:spPr>
          <a:xfrm>
            <a:off x="1530906" y="6694646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37% от атаките срещу индустриални системи се извършват чрез USB устройства според ENISA (2023)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96207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F5A24-F9D0-A63A-9F2F-30243ECF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2167F6-8F88-519E-931F-61503BA0AF93}"/>
              </a:ext>
            </a:extLst>
          </p:cNvPr>
          <p:cNvSpPr/>
          <p:nvPr/>
        </p:nvSpPr>
        <p:spPr>
          <a:xfrm>
            <a:off x="756642" y="682823"/>
            <a:ext cx="10378321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Видове устройства и интерфейси</a:t>
            </a:r>
            <a:endParaRPr lang="en-US" sz="4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5D3953B-1ED3-8D95-5EDB-747A7F586506}"/>
              </a:ext>
            </a:extLst>
          </p:cNvPr>
          <p:cNvSpPr/>
          <p:nvPr/>
        </p:nvSpPr>
        <p:spPr>
          <a:xfrm>
            <a:off x="756642" y="1770578"/>
            <a:ext cx="1311711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Съвременните външни запаметяващи устройства предлагат значително разнообразие в скорост, капацитет и предназначение.</a:t>
            </a:r>
            <a:endParaRPr lang="en-US" sz="17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4C0E90-90DB-EAF9-6025-5A8930175452}"/>
              </a:ext>
            </a:extLst>
          </p:cNvPr>
          <p:cNvSpPr/>
          <p:nvPr/>
        </p:nvSpPr>
        <p:spPr>
          <a:xfrm>
            <a:off x="756642" y="2947985"/>
            <a:ext cx="13117116" cy="2483765"/>
          </a:xfrm>
          <a:prstGeom prst="roundRect">
            <a:avLst>
              <a:gd name="adj" fmla="val 3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A443298-19F8-71AD-500F-4046A712D799}"/>
              </a:ext>
            </a:extLst>
          </p:cNvPr>
          <p:cNvSpPr/>
          <p:nvPr/>
        </p:nvSpPr>
        <p:spPr>
          <a:xfrm>
            <a:off x="764262" y="2947986"/>
            <a:ext cx="13101876" cy="6755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033A613-6A0D-BCC0-0EC4-18F5B080324A}"/>
              </a:ext>
            </a:extLst>
          </p:cNvPr>
          <p:cNvSpPr/>
          <p:nvPr/>
        </p:nvSpPr>
        <p:spPr>
          <a:xfrm>
            <a:off x="980599" y="3103222"/>
            <a:ext cx="28394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Тип устройство</a:t>
            </a:r>
            <a:endParaRPr lang="en-US" sz="1700" b="1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5A47CE5-1B2B-5EFE-2E6B-4B70D63E5330}"/>
              </a:ext>
            </a:extLst>
          </p:cNvPr>
          <p:cNvSpPr/>
          <p:nvPr/>
        </p:nvSpPr>
        <p:spPr>
          <a:xfrm>
            <a:off x="4259818" y="3103222"/>
            <a:ext cx="283559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Макс. скорост</a:t>
            </a:r>
            <a:endParaRPr lang="en-US" sz="1700" b="1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7091E64-DC57-F6AF-EE35-372E9AC7BD2E}"/>
              </a:ext>
            </a:extLst>
          </p:cNvPr>
          <p:cNvSpPr/>
          <p:nvPr/>
        </p:nvSpPr>
        <p:spPr>
          <a:xfrm>
            <a:off x="7535228" y="3103222"/>
            <a:ext cx="283559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Цена/GB</a:t>
            </a:r>
            <a:endParaRPr lang="en-US" sz="1700" b="1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25FAFD5-2DCC-E9A2-B634-0FFF6D08B299}"/>
              </a:ext>
            </a:extLst>
          </p:cNvPr>
          <p:cNvSpPr/>
          <p:nvPr/>
        </p:nvSpPr>
        <p:spPr>
          <a:xfrm>
            <a:off x="10810637" y="3092205"/>
            <a:ext cx="2839403" cy="344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Основна ниша/употреба</a:t>
            </a:r>
            <a:endParaRPr lang="en-US" sz="1700" b="1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FFE24CB-5B6D-8D15-25E3-4C2E829CCECE}"/>
              </a:ext>
            </a:extLst>
          </p:cNvPr>
          <p:cNvSpPr/>
          <p:nvPr/>
        </p:nvSpPr>
        <p:spPr>
          <a:xfrm>
            <a:off x="764262" y="3623548"/>
            <a:ext cx="13101876" cy="6001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3B671BD-4AD0-DB22-35E8-E31BC2236873}"/>
              </a:ext>
            </a:extLst>
          </p:cNvPr>
          <p:cNvSpPr/>
          <p:nvPr/>
        </p:nvSpPr>
        <p:spPr>
          <a:xfrm>
            <a:off x="980599" y="3754755"/>
            <a:ext cx="28394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USB Flash</a:t>
            </a:r>
            <a:endParaRPr lang="en-US" sz="17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623FA4-A3B3-261A-CAA3-181A817B3C47}"/>
              </a:ext>
            </a:extLst>
          </p:cNvPr>
          <p:cNvSpPr/>
          <p:nvPr/>
        </p:nvSpPr>
        <p:spPr>
          <a:xfrm>
            <a:off x="4259818" y="3754755"/>
            <a:ext cx="283559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до 400 MB/s</a:t>
            </a:r>
            <a:endParaRPr lang="en-US" sz="17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60C968D-F83D-A292-8805-8ADAFD1332A5}"/>
              </a:ext>
            </a:extLst>
          </p:cNvPr>
          <p:cNvSpPr/>
          <p:nvPr/>
        </p:nvSpPr>
        <p:spPr>
          <a:xfrm>
            <a:off x="7535228" y="3754755"/>
            <a:ext cx="283559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0,05–0,15 €</a:t>
            </a:r>
            <a:endParaRPr lang="en-US" sz="17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9B56070-CE3D-6E61-2672-77D8916BDEB8}"/>
              </a:ext>
            </a:extLst>
          </p:cNvPr>
          <p:cNvSpPr/>
          <p:nvPr/>
        </p:nvSpPr>
        <p:spPr>
          <a:xfrm>
            <a:off x="10810637" y="3754755"/>
            <a:ext cx="28394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Ежедневен обмен</a:t>
            </a:r>
            <a:endParaRPr lang="en-US" sz="17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4867FC8-A4DB-B19B-84D9-FACC0FDF19AD}"/>
              </a:ext>
            </a:extLst>
          </p:cNvPr>
          <p:cNvSpPr/>
          <p:nvPr/>
        </p:nvSpPr>
        <p:spPr>
          <a:xfrm>
            <a:off x="764262" y="4223742"/>
            <a:ext cx="13101876" cy="60019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5A9F2AC-FCF4-265A-3AE7-FB33CF30E1D8}"/>
              </a:ext>
            </a:extLst>
          </p:cNvPr>
          <p:cNvSpPr/>
          <p:nvPr/>
        </p:nvSpPr>
        <p:spPr>
          <a:xfrm>
            <a:off x="980599" y="4354949"/>
            <a:ext cx="28394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Външен SSD</a:t>
            </a:r>
            <a:endParaRPr lang="en-US" sz="17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DC5B6F2-F6AC-17CF-16C6-3CFCAB85C566}"/>
              </a:ext>
            </a:extLst>
          </p:cNvPr>
          <p:cNvSpPr/>
          <p:nvPr/>
        </p:nvSpPr>
        <p:spPr>
          <a:xfrm>
            <a:off x="4259818" y="4354949"/>
            <a:ext cx="283559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до 2 000 MB/s</a:t>
            </a:r>
            <a:endParaRPr lang="en-US" sz="17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4CE839B-852D-802A-76F5-B8E5A5A804D6}"/>
              </a:ext>
            </a:extLst>
          </p:cNvPr>
          <p:cNvSpPr/>
          <p:nvPr/>
        </p:nvSpPr>
        <p:spPr>
          <a:xfrm>
            <a:off x="7535228" y="4354949"/>
            <a:ext cx="283559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0,07–0,12 €</a:t>
            </a:r>
            <a:endParaRPr lang="en-US" sz="17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C5FB734-CFA2-F5CC-7A79-DFA9B25B1554}"/>
              </a:ext>
            </a:extLst>
          </p:cNvPr>
          <p:cNvSpPr/>
          <p:nvPr/>
        </p:nvSpPr>
        <p:spPr>
          <a:xfrm>
            <a:off x="10810637" y="4354949"/>
            <a:ext cx="28394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Висока скорост</a:t>
            </a:r>
            <a:endParaRPr lang="en-US" sz="17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E01FEE1-E2C5-F4F3-AE96-8E20A1235A23}"/>
              </a:ext>
            </a:extLst>
          </p:cNvPr>
          <p:cNvSpPr/>
          <p:nvPr/>
        </p:nvSpPr>
        <p:spPr>
          <a:xfrm>
            <a:off x="764262" y="4823936"/>
            <a:ext cx="13101876" cy="6001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4A7055D-F1F9-8560-FE89-A576C0224608}"/>
              </a:ext>
            </a:extLst>
          </p:cNvPr>
          <p:cNvSpPr/>
          <p:nvPr/>
        </p:nvSpPr>
        <p:spPr>
          <a:xfrm>
            <a:off x="980599" y="4955143"/>
            <a:ext cx="28394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Външен HDD</a:t>
            </a:r>
            <a:endParaRPr lang="en-US" sz="17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785CE85-A34A-77B8-9A4C-E04BAFCE01E8}"/>
              </a:ext>
            </a:extLst>
          </p:cNvPr>
          <p:cNvSpPr/>
          <p:nvPr/>
        </p:nvSpPr>
        <p:spPr>
          <a:xfrm>
            <a:off x="4259818" y="4955143"/>
            <a:ext cx="283559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до 160 MB/s</a:t>
            </a:r>
            <a:endParaRPr lang="en-US" sz="17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BFE2F26-9E26-F1D7-2838-46C4DF883AEA}"/>
              </a:ext>
            </a:extLst>
          </p:cNvPr>
          <p:cNvSpPr/>
          <p:nvPr/>
        </p:nvSpPr>
        <p:spPr>
          <a:xfrm>
            <a:off x="7535228" y="4955143"/>
            <a:ext cx="283559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0,02–0,04 €</a:t>
            </a:r>
            <a:endParaRPr lang="en-US" sz="17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11BC629-252D-3605-9642-AA821747FECF}"/>
              </a:ext>
            </a:extLst>
          </p:cNvPr>
          <p:cNvSpPr/>
          <p:nvPr/>
        </p:nvSpPr>
        <p:spPr>
          <a:xfrm>
            <a:off x="10810637" y="4955143"/>
            <a:ext cx="283940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Масово архивиране</a:t>
            </a:r>
            <a:endParaRPr lang="en-US" sz="17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D3DB5E5-7C6E-D147-5626-220C758314FF}"/>
              </a:ext>
            </a:extLst>
          </p:cNvPr>
          <p:cNvSpPr/>
          <p:nvPr/>
        </p:nvSpPr>
        <p:spPr>
          <a:xfrm>
            <a:off x="756642" y="5771555"/>
            <a:ext cx="6429732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100×</a:t>
            </a:r>
            <a:endParaRPr lang="en-US" sz="56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21A5D05-0A7F-2F84-2613-352626F30AE0}"/>
              </a:ext>
            </a:extLst>
          </p:cNvPr>
          <p:cNvSpPr/>
          <p:nvPr/>
        </p:nvSpPr>
        <p:spPr>
          <a:xfrm>
            <a:off x="2400062" y="6747510"/>
            <a:ext cx="314277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Разлика в скоростта</a:t>
            </a:r>
            <a:endParaRPr lang="en-US" sz="21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8750EF9-D7A6-315E-BB5E-A92CA56FAD6A}"/>
              </a:ext>
            </a:extLst>
          </p:cNvPr>
          <p:cNvSpPr/>
          <p:nvPr/>
        </p:nvSpPr>
        <p:spPr>
          <a:xfrm>
            <a:off x="756642" y="7208877"/>
            <a:ext cx="64297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USB 2.0 (60 MB/s) срещу NVMe Gen 4 (7 000 MB/s)</a:t>
            </a:r>
            <a:endParaRPr lang="en-US" sz="17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E5BF8F6-32A6-CB96-BB2A-A1B9726E2BDC}"/>
              </a:ext>
            </a:extLst>
          </p:cNvPr>
          <p:cNvSpPr/>
          <p:nvPr/>
        </p:nvSpPr>
        <p:spPr>
          <a:xfrm>
            <a:off x="7443907" y="5771555"/>
            <a:ext cx="6429851" cy="713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10×</a:t>
            </a:r>
            <a:endParaRPr lang="en-US" sz="56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ED6755C-9CAE-20A3-6419-FD6CBEBDD7C9}"/>
              </a:ext>
            </a:extLst>
          </p:cNvPr>
          <p:cNvSpPr/>
          <p:nvPr/>
        </p:nvSpPr>
        <p:spPr>
          <a:xfrm>
            <a:off x="9307592" y="6747510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Разлика в цената</a:t>
            </a:r>
            <a:endParaRPr lang="en-US" sz="21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0DFF101-DFC7-E87F-339B-0A9B4905CC63}"/>
              </a:ext>
            </a:extLst>
          </p:cNvPr>
          <p:cNvSpPr/>
          <p:nvPr/>
        </p:nvSpPr>
        <p:spPr>
          <a:xfrm>
            <a:off x="7443907" y="7208877"/>
            <a:ext cx="64298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От USB flash до външен HDD по отношение на цена/GB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07101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9C4D0-3317-9A02-C0EA-6AF350C8D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FED0663-CAD2-2DC9-FA92-4AB4DE6C5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8902D76-7263-52DC-412E-33D0C5A18518}"/>
              </a:ext>
            </a:extLst>
          </p:cNvPr>
          <p:cNvSpPr/>
          <p:nvPr/>
        </p:nvSpPr>
        <p:spPr>
          <a:xfrm>
            <a:off x="6280190" y="962858"/>
            <a:ext cx="724673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Рискове за киберсигурността</a:t>
            </a:r>
            <a:endParaRPr lang="en-US" sz="3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2EDAA48-F2BC-CFB3-6129-AD4236467AA8}"/>
              </a:ext>
            </a:extLst>
          </p:cNvPr>
          <p:cNvSpPr/>
          <p:nvPr/>
        </p:nvSpPr>
        <p:spPr>
          <a:xfrm>
            <a:off x="6280190" y="1685806"/>
            <a:ext cx="75564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Оценка на уязвимостите по методологията NIST SP 800-30 и ISO 27005.</a:t>
            </a:r>
            <a:endParaRPr lang="en-US" sz="13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E501A06-9B50-0F4A-C29E-A388B010D54B}"/>
              </a:ext>
            </a:extLst>
          </p:cNvPr>
          <p:cNvSpPr/>
          <p:nvPr/>
        </p:nvSpPr>
        <p:spPr>
          <a:xfrm>
            <a:off x="6280190" y="2067401"/>
            <a:ext cx="7556421" cy="1204198"/>
          </a:xfrm>
          <a:prstGeom prst="roundRect">
            <a:avLst>
              <a:gd name="adj" fmla="val 0"/>
            </a:avLst>
          </a:prstGeom>
          <a:solidFill>
            <a:srgbClr val="F8ECE4"/>
          </a:solidFill>
          <a:ln w="22860">
            <a:solidFill>
              <a:srgbClr val="C41E3A"/>
            </a:solidFill>
            <a:prstDash val="solid"/>
          </a:ln>
          <a:effectLst>
            <a:outerShdw dist="21590" dir="2700000" algn="bl" rotWithShape="0">
              <a:srgbClr val="C41E3A">
                <a:alpha val="100000"/>
              </a:srgbClr>
            </a:outerShdw>
          </a:effectLst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A58F09B-A386-8037-29B5-132B74516F83}"/>
              </a:ext>
            </a:extLst>
          </p:cNvPr>
          <p:cNvSpPr/>
          <p:nvPr/>
        </p:nvSpPr>
        <p:spPr>
          <a:xfrm>
            <a:off x="6541651" y="226028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MALWARE</a:t>
            </a:r>
            <a:endParaRPr lang="en-US" sz="16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F821781-04F7-FE53-FEB9-7AA4BD7806E7}"/>
              </a:ext>
            </a:extLst>
          </p:cNvPr>
          <p:cNvSpPr/>
          <p:nvPr/>
        </p:nvSpPr>
        <p:spPr>
          <a:xfrm>
            <a:off x="6541651" y="2602468"/>
            <a:ext cx="71020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Автоматично разпространение на зловреден софтуер при свързване. Критичен риск за организационната сигурност.</a:t>
            </a:r>
            <a:endParaRPr lang="en-US" sz="13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9927243-2467-25CB-5BB0-FA35EBCC62C3}"/>
              </a:ext>
            </a:extLst>
          </p:cNvPr>
          <p:cNvSpPr/>
          <p:nvPr/>
        </p:nvSpPr>
        <p:spPr>
          <a:xfrm>
            <a:off x="6280190" y="3399115"/>
            <a:ext cx="7556421" cy="1204198"/>
          </a:xfrm>
          <a:prstGeom prst="roundRect">
            <a:avLst>
              <a:gd name="adj" fmla="val 0"/>
            </a:avLst>
          </a:prstGeom>
          <a:solidFill>
            <a:srgbClr val="F8ECE4"/>
          </a:solidFill>
          <a:ln w="22860">
            <a:solidFill>
              <a:srgbClr val="C41E3A"/>
            </a:solidFill>
            <a:prstDash val="solid"/>
          </a:ln>
          <a:effectLst>
            <a:outerShdw dist="21590" dir="2700000" algn="bl" rotWithShape="0">
              <a:srgbClr val="C41E3A">
                <a:alpha val="100000"/>
              </a:srgbClr>
            </a:outerShdw>
          </a:effectLst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A28E7A8-A4D9-0071-BA3C-95428A13258F}"/>
              </a:ext>
            </a:extLst>
          </p:cNvPr>
          <p:cNvSpPr/>
          <p:nvPr/>
        </p:nvSpPr>
        <p:spPr>
          <a:xfrm>
            <a:off x="6235660" y="3395681"/>
            <a:ext cx="91440" cy="1228402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6656559-6349-F364-208A-4113D5C0A0C6}"/>
              </a:ext>
            </a:extLst>
          </p:cNvPr>
          <p:cNvSpPr/>
          <p:nvPr/>
        </p:nvSpPr>
        <p:spPr>
          <a:xfrm>
            <a:off x="6541651" y="359199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THEFT</a:t>
            </a:r>
            <a:endParaRPr lang="en-US" sz="16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7CAD711-02A6-8BF7-9511-520C4B897880}"/>
              </a:ext>
            </a:extLst>
          </p:cNvPr>
          <p:cNvSpPr/>
          <p:nvPr/>
        </p:nvSpPr>
        <p:spPr>
          <a:xfrm>
            <a:off x="6541651" y="3934182"/>
            <a:ext cx="71020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Несанкциониран достъп до конфиденциални данни. Критичен риск с тежки правни последствия.</a:t>
            </a:r>
            <a:endParaRPr lang="en-US" sz="13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0D60C98-EC06-6438-9C61-D9F5CE81268F}"/>
              </a:ext>
            </a:extLst>
          </p:cNvPr>
          <p:cNvSpPr/>
          <p:nvPr/>
        </p:nvSpPr>
        <p:spPr>
          <a:xfrm>
            <a:off x="6280190" y="4730829"/>
            <a:ext cx="7556421" cy="1204198"/>
          </a:xfrm>
          <a:prstGeom prst="roundRect">
            <a:avLst>
              <a:gd name="adj" fmla="val 0"/>
            </a:avLst>
          </a:prstGeom>
          <a:solidFill>
            <a:srgbClr val="F8ECE4"/>
          </a:solidFill>
          <a:ln w="22860">
            <a:solidFill>
              <a:srgbClr val="FF8C00"/>
            </a:solidFill>
            <a:prstDash val="solid"/>
          </a:ln>
          <a:effectLst>
            <a:outerShdw dist="21590" dir="2700000" algn="bl" rotWithShape="0">
              <a:srgbClr val="FF8C00">
                <a:alpha val="100000"/>
              </a:srgbClr>
            </a:outerShdw>
          </a:effectLst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56F6CCE-5965-F517-7574-88DB6A3764D6}"/>
              </a:ext>
            </a:extLst>
          </p:cNvPr>
          <p:cNvSpPr/>
          <p:nvPr/>
        </p:nvSpPr>
        <p:spPr>
          <a:xfrm>
            <a:off x="6239994" y="4725594"/>
            <a:ext cx="91440" cy="1240686"/>
          </a:xfrm>
          <a:prstGeom prst="roundRect">
            <a:avLst>
              <a:gd name="adj" fmla="val 10000"/>
            </a:avLst>
          </a:prstGeom>
          <a:solidFill>
            <a:srgbClr val="FF8C00"/>
          </a:solidFill>
          <a:ln/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81794A4-BC3F-7A00-8B98-F162573C3604}"/>
              </a:ext>
            </a:extLst>
          </p:cNvPr>
          <p:cNvSpPr/>
          <p:nvPr/>
        </p:nvSpPr>
        <p:spPr>
          <a:xfrm>
            <a:off x="6541651" y="492371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RANSOMWARE</a:t>
            </a:r>
            <a:endParaRPr lang="en-US" sz="16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BD6539A-2053-77B7-4E90-81EE0FB4BA9D}"/>
              </a:ext>
            </a:extLst>
          </p:cNvPr>
          <p:cNvSpPr/>
          <p:nvPr/>
        </p:nvSpPr>
        <p:spPr>
          <a:xfrm>
            <a:off x="6541651" y="5265896"/>
            <a:ext cx="71020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Шифроване на данни с изискване за откуп. Висок риск за бизнес критични системи.</a:t>
            </a:r>
            <a:endParaRPr lang="en-US" sz="13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B36E3460-1A71-D484-BB2C-132A17DC0675}"/>
              </a:ext>
            </a:extLst>
          </p:cNvPr>
          <p:cNvSpPr/>
          <p:nvPr/>
        </p:nvSpPr>
        <p:spPr>
          <a:xfrm>
            <a:off x="6280190" y="6062543"/>
            <a:ext cx="7556421" cy="1204198"/>
          </a:xfrm>
          <a:prstGeom prst="roundRect">
            <a:avLst>
              <a:gd name="adj" fmla="val 0"/>
            </a:avLst>
          </a:prstGeom>
          <a:solidFill>
            <a:srgbClr val="F8ECE4"/>
          </a:solidFill>
          <a:ln w="22860">
            <a:solidFill>
              <a:srgbClr val="FFC107"/>
            </a:solidFill>
            <a:prstDash val="solid"/>
          </a:ln>
          <a:effectLst>
            <a:outerShdw dist="21590" dir="2700000" algn="bl" rotWithShape="0">
              <a:srgbClr val="FFC107">
                <a:alpha val="100000"/>
              </a:srgbClr>
            </a:outerShdw>
          </a:effectLst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3C71FBA1-3F49-97E9-B5A4-E845E802155E}"/>
              </a:ext>
            </a:extLst>
          </p:cNvPr>
          <p:cNvSpPr/>
          <p:nvPr/>
        </p:nvSpPr>
        <p:spPr>
          <a:xfrm>
            <a:off x="6244328" y="6052967"/>
            <a:ext cx="91440" cy="1240686"/>
          </a:xfrm>
          <a:prstGeom prst="roundRect">
            <a:avLst>
              <a:gd name="adj" fmla="val 10000"/>
            </a:avLst>
          </a:prstGeom>
          <a:solidFill>
            <a:srgbClr val="FFC107"/>
          </a:solidFill>
          <a:ln/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6AC62AF-0449-1045-3DAA-F3ED96317D68}"/>
              </a:ext>
            </a:extLst>
          </p:cNvPr>
          <p:cNvSpPr/>
          <p:nvPr/>
        </p:nvSpPr>
        <p:spPr>
          <a:xfrm>
            <a:off x="6541651" y="625542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BADUSBATTACK</a:t>
            </a:r>
            <a:endParaRPr lang="en-US" sz="16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F80B622-925D-1E6D-39BB-F14344D9B13F}"/>
              </a:ext>
            </a:extLst>
          </p:cNvPr>
          <p:cNvSpPr/>
          <p:nvPr/>
        </p:nvSpPr>
        <p:spPr>
          <a:xfrm>
            <a:off x="6541651" y="6597610"/>
            <a:ext cx="71020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Префалшифициране на USB контролера за маскиране като клавиатура. Среден риск с висока сложност.</a:t>
            </a:r>
            <a:endParaRPr lang="en-US" sz="13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2555E06B-EB06-6036-E610-CCEB585339D0}"/>
              </a:ext>
            </a:extLst>
          </p:cNvPr>
          <p:cNvSpPr/>
          <p:nvPr/>
        </p:nvSpPr>
        <p:spPr>
          <a:xfrm>
            <a:off x="6234470" y="2060942"/>
            <a:ext cx="91440" cy="1235835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</p:spTree>
    <p:extLst>
      <p:ext uri="{BB962C8B-B14F-4D97-AF65-F5344CB8AC3E}">
        <p14:creationId xmlns:p14="http://schemas.microsoft.com/office/powerpoint/2010/main" val="196586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497DB-5B95-8C96-2E4F-CC60DAB5B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CCBD4B-C518-FB26-2369-6EFC94A223E5}"/>
              </a:ext>
            </a:extLst>
          </p:cNvPr>
          <p:cNvSpPr/>
          <p:nvPr/>
        </p:nvSpPr>
        <p:spPr>
          <a:xfrm>
            <a:off x="781407" y="693896"/>
            <a:ext cx="7301389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Мерки за защита на данните</a:t>
            </a:r>
            <a:endParaRPr lang="en-US" sz="35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23EA7A4-C7D2-68B5-08E1-C10654114F8E}"/>
              </a:ext>
            </a:extLst>
          </p:cNvPr>
          <p:cNvSpPr/>
          <p:nvPr/>
        </p:nvSpPr>
        <p:spPr>
          <a:xfrm>
            <a:off x="781407" y="1603653"/>
            <a:ext cx="2847142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Технически мерки</a:t>
            </a:r>
            <a:endParaRPr lang="en-US" sz="2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48DB2E6-3810-D35E-5948-C38DAD2FE935}"/>
              </a:ext>
            </a:extLst>
          </p:cNvPr>
          <p:cNvSpPr/>
          <p:nvPr/>
        </p:nvSpPr>
        <p:spPr>
          <a:xfrm>
            <a:off x="781407" y="2096691"/>
            <a:ext cx="35718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422FB63-8BEB-A72A-2C07-D25A49C59B34}"/>
              </a:ext>
            </a:extLst>
          </p:cNvPr>
          <p:cNvSpPr/>
          <p:nvPr/>
        </p:nvSpPr>
        <p:spPr>
          <a:xfrm>
            <a:off x="781407" y="2377440"/>
            <a:ext cx="6315908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F2A5298-D39D-EA32-9840-9F6707AFEC3D}"/>
              </a:ext>
            </a:extLst>
          </p:cNvPr>
          <p:cNvSpPr/>
          <p:nvPr/>
        </p:nvSpPr>
        <p:spPr>
          <a:xfrm>
            <a:off x="781407" y="251245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Криптиране</a:t>
            </a:r>
            <a:endParaRPr lang="en-US" sz="17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543FDC2-CEB1-06F4-F4A4-7D3C33952E20}"/>
              </a:ext>
            </a:extLst>
          </p:cNvPr>
          <p:cNvSpPr/>
          <p:nvPr/>
        </p:nvSpPr>
        <p:spPr>
          <a:xfrm>
            <a:off x="781407" y="2932033"/>
            <a:ext cx="6315908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BitLocker To Go (AD/GPO) · VeraCrypt (FOSS) · LUKS (Linux)</a:t>
            </a:r>
            <a:endParaRPr lang="en-US" sz="17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25BAC36-29AF-8011-6722-1FBF1F1E3B08}"/>
              </a:ext>
            </a:extLst>
          </p:cNvPr>
          <p:cNvSpPr/>
          <p:nvPr/>
        </p:nvSpPr>
        <p:spPr>
          <a:xfrm>
            <a:off x="781407" y="3845004"/>
            <a:ext cx="35718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85AD835-F60C-CC80-F354-EF4217EBE60C}"/>
              </a:ext>
            </a:extLst>
          </p:cNvPr>
          <p:cNvSpPr/>
          <p:nvPr/>
        </p:nvSpPr>
        <p:spPr>
          <a:xfrm>
            <a:off x="781407" y="4125754"/>
            <a:ext cx="6315908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C783747-A71F-4F25-760A-EAB6443E4E5B}"/>
              </a:ext>
            </a:extLst>
          </p:cNvPr>
          <p:cNvSpPr/>
          <p:nvPr/>
        </p:nvSpPr>
        <p:spPr>
          <a:xfrm>
            <a:off x="781407" y="426077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Антивирус</a:t>
            </a:r>
            <a:endParaRPr lang="en-US" sz="17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24A4B37-B7E1-467D-51BE-E0A18BAD3581}"/>
              </a:ext>
            </a:extLst>
          </p:cNvPr>
          <p:cNvSpPr/>
          <p:nvPr/>
        </p:nvSpPr>
        <p:spPr>
          <a:xfrm>
            <a:off x="781407" y="4680347"/>
            <a:ext cx="6315908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Автоматично сканиране при свързване на устройство</a:t>
            </a:r>
            <a:endParaRPr lang="en-US" sz="17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8FF5A0F-0E2F-279D-7F5D-17D0FF9C9674}"/>
              </a:ext>
            </a:extLst>
          </p:cNvPr>
          <p:cNvSpPr/>
          <p:nvPr/>
        </p:nvSpPr>
        <p:spPr>
          <a:xfrm>
            <a:off x="781407" y="5274112"/>
            <a:ext cx="35718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A9E6563-A6C5-A9DA-A706-173CE2F2CA64}"/>
              </a:ext>
            </a:extLst>
          </p:cNvPr>
          <p:cNvSpPr/>
          <p:nvPr/>
        </p:nvSpPr>
        <p:spPr>
          <a:xfrm>
            <a:off x="781407" y="5554861"/>
            <a:ext cx="6315908" cy="2286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2A6DA08-E375-CAD0-7CE5-022BDE6FE26C}"/>
              </a:ext>
            </a:extLst>
          </p:cNvPr>
          <p:cNvSpPr/>
          <p:nvPr/>
        </p:nvSpPr>
        <p:spPr>
          <a:xfrm>
            <a:off x="781407" y="568987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Backup</a:t>
            </a:r>
            <a:endParaRPr lang="en-US" sz="17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D122D9F-5A3D-A832-F10A-ABDA59EF65FA}"/>
              </a:ext>
            </a:extLst>
          </p:cNvPr>
          <p:cNvSpPr/>
          <p:nvPr/>
        </p:nvSpPr>
        <p:spPr>
          <a:xfrm>
            <a:off x="781407" y="6109454"/>
            <a:ext cx="6315908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Стратегия 3-2-1: 3 копия, 2 носителя, 1 offsite</a:t>
            </a:r>
            <a:endParaRPr lang="en-US" sz="17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1471174-2C1D-7BF3-2782-02CE4848B087}"/>
              </a:ext>
            </a:extLst>
          </p:cNvPr>
          <p:cNvSpPr/>
          <p:nvPr/>
        </p:nvSpPr>
        <p:spPr>
          <a:xfrm>
            <a:off x="7540704" y="1603653"/>
            <a:ext cx="3104912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Контрол и политики</a:t>
            </a:r>
            <a:endParaRPr lang="en-US" sz="2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B18A5DD-6C41-7071-1210-E7A5E00D54D8}"/>
              </a:ext>
            </a:extLst>
          </p:cNvPr>
          <p:cNvSpPr/>
          <p:nvPr/>
        </p:nvSpPr>
        <p:spPr>
          <a:xfrm>
            <a:off x="7540704" y="2079069"/>
            <a:ext cx="6315908" cy="306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Device Whitelisting</a:t>
            </a:r>
            <a:r>
              <a:rPr lang="en-US" sz="1750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 — разрешаване само на одобрени устройства</a:t>
            </a:r>
            <a:endParaRPr lang="en-US" sz="1750" dirty="0">
              <a:latin typeface="Inconsolata Medium" pitchFamily="1" charset="0"/>
              <a:ea typeface="Inconsolata Medium" pitchFamily="1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Деактивиране на AutoRun</a:t>
            </a:r>
            <a:r>
              <a:rPr lang="en-US" sz="1750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 — предотвратяване на автоматично изпълнение</a:t>
            </a:r>
            <a:endParaRPr lang="en-US" sz="1750" dirty="0">
              <a:latin typeface="Inconsolata Medium" pitchFamily="1" charset="0"/>
              <a:ea typeface="Inconsolata Medium" pitchFamily="1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RBAC</a:t>
            </a:r>
            <a:r>
              <a:rPr lang="en-US" sz="1750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 — контрол на достъпа базиран на роли</a:t>
            </a:r>
            <a:endParaRPr lang="en-US" sz="1750" dirty="0">
              <a:latin typeface="Inconsolata Medium" pitchFamily="1" charset="0"/>
              <a:ea typeface="Inconsolata Medium" pitchFamily="1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Организационна рамка:</a:t>
            </a:r>
            <a:r>
              <a:rPr lang="en-US" sz="1750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 10-точкова политика (ISO 27001 + NIST 800-53)</a:t>
            </a:r>
            <a:endParaRPr lang="en-US" sz="1750" dirty="0">
              <a:latin typeface="Inconsolata Medium" pitchFamily="1" charset="0"/>
              <a:ea typeface="Inconsolata Medium" pitchFamily="1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GDPR чл. 32/33</a:t>
            </a:r>
            <a:r>
              <a:rPr lang="en-US" sz="1750" dirty="0">
                <a:solidFill>
                  <a:srgbClr val="151617"/>
                </a:solidFill>
                <a:latin typeface="Inconsolata Medium" pitchFamily="1" charset="0"/>
                <a:ea typeface="Inconsolata Medium" pitchFamily="1" charset="0"/>
                <a:cs typeface="Inconsolata Medium" pitchFamily="34" charset="-120"/>
              </a:rPr>
              <a:t> — правна уредба за защита на лични данни</a:t>
            </a:r>
            <a:endParaRPr lang="en-US" sz="1750" dirty="0">
              <a:latin typeface="Inconsolata Medium" pitchFamily="1" charset="0"/>
              <a:ea typeface="Inconsolata Medium" pitchFamily="1" charset="0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97D134A5-3AA2-1549-74CE-9FC2F15844CD}"/>
              </a:ext>
            </a:extLst>
          </p:cNvPr>
          <p:cNvSpPr/>
          <p:nvPr/>
        </p:nvSpPr>
        <p:spPr>
          <a:xfrm>
            <a:off x="781407" y="6879074"/>
            <a:ext cx="13067586" cy="656511"/>
          </a:xfrm>
          <a:prstGeom prst="roundRect">
            <a:avLst>
              <a:gd name="adj" fmla="val 1393"/>
            </a:avLst>
          </a:prstGeom>
          <a:solidFill>
            <a:srgbClr val="B6D6FC"/>
          </a:solidFill>
          <a:ln/>
        </p:spPr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529B565D-FBCC-D0B0-EDCC-E99E730F4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001" y="7128867"/>
            <a:ext cx="223242" cy="178594"/>
          </a:xfrm>
          <a:prstGeom prst="rect">
            <a:avLst/>
          </a:prstGeom>
        </p:spPr>
      </p:pic>
      <p:sp>
        <p:nvSpPr>
          <p:cNvPr id="21" name="Text 17">
            <a:extLst>
              <a:ext uri="{FF2B5EF4-FFF2-40B4-BE49-F238E27FC236}">
                <a16:creationId xmlns:a16="http://schemas.microsoft.com/office/drawing/2014/main" id="{5BB9E563-2D10-2143-0613-C4B3609C128C}"/>
              </a:ext>
            </a:extLst>
          </p:cNvPr>
          <p:cNvSpPr/>
          <p:nvPr/>
        </p:nvSpPr>
        <p:spPr>
          <a:xfrm>
            <a:off x="1361837" y="7064335"/>
            <a:ext cx="12308562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Defense in Depth подход — многослойна защита за максимална сигурност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2090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625B-F15E-11B3-8548-FF0E7EAEF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C4AA07-66F2-0BDA-FBD0-E75A68D16CE9}"/>
              </a:ext>
            </a:extLst>
          </p:cNvPr>
          <p:cNvSpPr/>
          <p:nvPr/>
        </p:nvSpPr>
        <p:spPr>
          <a:xfrm>
            <a:off x="793790" y="659249"/>
            <a:ext cx="810625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Практическа демонстрация</a:t>
            </a:r>
            <a:endParaRPr lang="en-US" sz="4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F93D476-6263-4238-6A7B-EC282ACA2E45}"/>
              </a:ext>
            </a:extLst>
          </p:cNvPr>
          <p:cNvSpPr/>
          <p:nvPr/>
        </p:nvSpPr>
        <p:spPr>
          <a:xfrm>
            <a:off x="793790" y="1370647"/>
            <a:ext cx="7031712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Имплементация в Active Directory среда</a:t>
            </a:r>
            <a:endParaRPr lang="en-US" sz="24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F2125990-4A8D-0B8C-9E9E-9CCC69313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235637"/>
            <a:ext cx="4670108" cy="31175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B34E7B24-B4C4-157E-B551-EE0DC0C7419A}"/>
              </a:ext>
            </a:extLst>
          </p:cNvPr>
          <p:cNvSpPr/>
          <p:nvPr/>
        </p:nvSpPr>
        <p:spPr>
          <a:xfrm>
            <a:off x="793790" y="5559862"/>
            <a:ext cx="518910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Среда: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Windows Server 2019/2022 с Active Directory</a:t>
            </a:r>
            <a:endParaRPr lang="en-US" sz="16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22A4070-B286-1AF8-E2CD-6971C59DC9F0}"/>
              </a:ext>
            </a:extLst>
          </p:cNvPr>
          <p:cNvSpPr/>
          <p:nvPr/>
        </p:nvSpPr>
        <p:spPr>
          <a:xfrm>
            <a:off x="793790" y="6345674"/>
            <a:ext cx="518910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OU</a:t>
            </a:r>
            <a:r>
              <a:rPr lang="bg-BG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</a:t>
            </a: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(Organizational Unit) структура:</a:t>
            </a: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6588F71-D6F9-4D20-67F9-B2096644CA22}"/>
              </a:ext>
            </a:extLst>
          </p:cNvPr>
          <p:cNvSpPr/>
          <p:nvPr/>
        </p:nvSpPr>
        <p:spPr>
          <a:xfrm>
            <a:off x="793790" y="6821210"/>
            <a:ext cx="518910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USB-Blocked → забрана за запис</a:t>
            </a:r>
            <a:endParaRPr lang="en-US" sz="16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USB-Allowed → запис само с BitLocker</a:t>
            </a:r>
            <a:endParaRPr lang="en-US" sz="1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BDF5721-763D-E6C6-9A74-B754D621947E}"/>
              </a:ext>
            </a:extLst>
          </p:cNvPr>
          <p:cNvSpPr/>
          <p:nvPr/>
        </p:nvSpPr>
        <p:spPr>
          <a:xfrm>
            <a:off x="6488430" y="3307556"/>
            <a:ext cx="7355681" cy="2198370"/>
          </a:xfrm>
          <a:prstGeom prst="roundRect">
            <a:avLst>
              <a:gd name="adj" fmla="val 4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4011053-32F2-AC79-C149-DB757A127BC7}"/>
              </a:ext>
            </a:extLst>
          </p:cNvPr>
          <p:cNvSpPr/>
          <p:nvPr/>
        </p:nvSpPr>
        <p:spPr>
          <a:xfrm>
            <a:off x="6496050" y="3315176"/>
            <a:ext cx="734044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E51FE46-84C6-ABC4-6198-FCCFF3BE5A2C}"/>
              </a:ext>
            </a:extLst>
          </p:cNvPr>
          <p:cNvSpPr/>
          <p:nvPr/>
        </p:nvSpPr>
        <p:spPr>
          <a:xfrm>
            <a:off x="6700242" y="3432929"/>
            <a:ext cx="20103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Операция</a:t>
            </a:r>
            <a:endParaRPr lang="en-US" sz="1600" b="1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44018F4-45C4-9F23-AD40-1850FB6DB179}"/>
              </a:ext>
            </a:extLst>
          </p:cNvPr>
          <p:cNvSpPr/>
          <p:nvPr/>
        </p:nvSpPr>
        <p:spPr>
          <a:xfrm>
            <a:off x="9126379" y="3432929"/>
            <a:ext cx="20065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USB-Allowed</a:t>
            </a:r>
            <a:endParaRPr lang="en-US" sz="1600" b="1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088D036-29AD-EF81-A79D-78E299D3E1EC}"/>
              </a:ext>
            </a:extLst>
          </p:cNvPr>
          <p:cNvSpPr/>
          <p:nvPr/>
        </p:nvSpPr>
        <p:spPr>
          <a:xfrm>
            <a:off x="11548705" y="3432929"/>
            <a:ext cx="208371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USB-Blocked</a:t>
            </a:r>
            <a:endParaRPr lang="en-US" sz="1600" b="1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515985F-3515-239D-2FAF-B489E1BA5909}"/>
              </a:ext>
            </a:extLst>
          </p:cNvPr>
          <p:cNvSpPr/>
          <p:nvPr/>
        </p:nvSpPr>
        <p:spPr>
          <a:xfrm>
            <a:off x="6496050" y="3860959"/>
            <a:ext cx="734044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604308B-72C5-68AA-F27E-5E3DB51A06D7}"/>
              </a:ext>
            </a:extLst>
          </p:cNvPr>
          <p:cNvSpPr/>
          <p:nvPr/>
        </p:nvSpPr>
        <p:spPr>
          <a:xfrm>
            <a:off x="6700242" y="3978712"/>
            <a:ext cx="20103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Четене</a:t>
            </a:r>
            <a:endParaRPr lang="en-US" sz="1600" b="1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D500BB3-6559-F726-A48C-4CE03B3BF64D}"/>
              </a:ext>
            </a:extLst>
          </p:cNvPr>
          <p:cNvSpPr/>
          <p:nvPr/>
        </p:nvSpPr>
        <p:spPr>
          <a:xfrm>
            <a:off x="9126379" y="3978712"/>
            <a:ext cx="20065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✓ Разрешено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8F4CE55-840E-BDE2-2FB1-FB531936C19D}"/>
              </a:ext>
            </a:extLst>
          </p:cNvPr>
          <p:cNvSpPr/>
          <p:nvPr/>
        </p:nvSpPr>
        <p:spPr>
          <a:xfrm>
            <a:off x="11548705" y="3978712"/>
            <a:ext cx="208371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✓ Разрешено</a:t>
            </a:r>
            <a:endParaRPr lang="en-US" sz="16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A49FF2E-6D15-6BD5-38E3-362DBDD3788D}"/>
              </a:ext>
            </a:extLst>
          </p:cNvPr>
          <p:cNvSpPr/>
          <p:nvPr/>
        </p:nvSpPr>
        <p:spPr>
          <a:xfrm>
            <a:off x="6496050" y="4406741"/>
            <a:ext cx="7340441" cy="5457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E176659-2494-73B8-F34D-D352CF45DC2B}"/>
              </a:ext>
            </a:extLst>
          </p:cNvPr>
          <p:cNvSpPr/>
          <p:nvPr/>
        </p:nvSpPr>
        <p:spPr>
          <a:xfrm>
            <a:off x="6700242" y="4524494"/>
            <a:ext cx="20103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Запис</a:t>
            </a:r>
            <a:endParaRPr lang="en-US" sz="1600" b="1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8228288-DB88-9223-1462-69C1F350077C}"/>
              </a:ext>
            </a:extLst>
          </p:cNvPr>
          <p:cNvSpPr/>
          <p:nvPr/>
        </p:nvSpPr>
        <p:spPr>
          <a:xfrm>
            <a:off x="9126379" y="4524494"/>
            <a:ext cx="20065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✓ с BitLocker</a:t>
            </a:r>
            <a:endParaRPr lang="en-US" sz="16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0D849765-CE6E-6817-07A5-C06A4A7BC998}"/>
              </a:ext>
            </a:extLst>
          </p:cNvPr>
          <p:cNvSpPr/>
          <p:nvPr/>
        </p:nvSpPr>
        <p:spPr>
          <a:xfrm>
            <a:off x="11548705" y="4524494"/>
            <a:ext cx="208371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✗ Забранено</a:t>
            </a:r>
            <a:endParaRPr lang="en-US" sz="16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B2D0C373-A7D4-1F90-9C47-953A84006F56}"/>
              </a:ext>
            </a:extLst>
          </p:cNvPr>
          <p:cNvSpPr/>
          <p:nvPr/>
        </p:nvSpPr>
        <p:spPr>
          <a:xfrm>
            <a:off x="6496050" y="4952524"/>
            <a:ext cx="7340441" cy="5457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3623ABE3-A2C0-15B4-9AB7-3D88985E59AC}"/>
              </a:ext>
            </a:extLst>
          </p:cNvPr>
          <p:cNvSpPr/>
          <p:nvPr/>
        </p:nvSpPr>
        <p:spPr>
          <a:xfrm>
            <a:off x="6700242" y="5070277"/>
            <a:ext cx="201037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Одит (Event 4663)</a:t>
            </a:r>
            <a:endParaRPr lang="en-US" sz="1600" b="1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336794E3-49E1-1285-A59F-BD7B8329C03B}"/>
              </a:ext>
            </a:extLst>
          </p:cNvPr>
          <p:cNvSpPr/>
          <p:nvPr/>
        </p:nvSpPr>
        <p:spPr>
          <a:xfrm>
            <a:off x="9126379" y="5070277"/>
            <a:ext cx="2006560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✓ Записва се</a:t>
            </a:r>
            <a:endParaRPr lang="en-US" sz="16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B980CBF3-F137-7CAC-4C71-88E215A1EC2A}"/>
              </a:ext>
            </a:extLst>
          </p:cNvPr>
          <p:cNvSpPr/>
          <p:nvPr/>
        </p:nvSpPr>
        <p:spPr>
          <a:xfrm>
            <a:off x="11548705" y="5070277"/>
            <a:ext cx="208371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✓ Записва се</a:t>
            </a:r>
            <a:endParaRPr lang="en-US" sz="16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D03E9D4D-BBE2-008B-DBBD-6F3834993DFC}"/>
              </a:ext>
            </a:extLst>
          </p:cNvPr>
          <p:cNvSpPr/>
          <p:nvPr/>
        </p:nvSpPr>
        <p:spPr>
          <a:xfrm>
            <a:off x="6488430" y="5712619"/>
            <a:ext cx="735568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GPO политики осигуряват централизиран контрол и проследяване на всички USB операции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023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E3B6-A189-B0C3-6E63-4DBE38D1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271DE1-8266-F6B5-1D8F-E3598944D62A}"/>
              </a:ext>
            </a:extLst>
          </p:cNvPr>
          <p:cNvSpPr/>
          <p:nvPr/>
        </p:nvSpPr>
        <p:spPr>
          <a:xfrm>
            <a:off x="793790" y="7243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Реални казуси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E84D194-D31A-BC7A-570B-B24FA163E1F9}"/>
              </a:ext>
            </a:extLst>
          </p:cNvPr>
          <p:cNvSpPr/>
          <p:nvPr/>
        </p:nvSpPr>
        <p:spPr>
          <a:xfrm>
            <a:off x="793790" y="18867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Уроци от исторически инциденти в киберсигурността.</a:t>
            </a:r>
            <a:endParaRPr lang="en-US" sz="17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221938D9-3C84-65EF-3C12-4BF564C00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04837"/>
            <a:ext cx="2411968" cy="2411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3089D3BC-8C87-2E45-8F64-8AACAE5CD344}"/>
              </a:ext>
            </a:extLst>
          </p:cNvPr>
          <p:cNvSpPr/>
          <p:nvPr/>
        </p:nvSpPr>
        <p:spPr>
          <a:xfrm>
            <a:off x="793790" y="5200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Stuxnet (2010)</a:t>
            </a:r>
            <a:endParaRPr lang="en-US" sz="2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F8B6668-A4F8-F18C-E301-CBA45C47CF62}"/>
              </a:ext>
            </a:extLst>
          </p:cNvPr>
          <p:cNvSpPr/>
          <p:nvPr/>
        </p:nvSpPr>
        <p:spPr>
          <a:xfrm>
            <a:off x="793790" y="5690711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Атака срещу иранска ядрена програма чрез USB. </a:t>
            </a:r>
            <a:endParaRPr lang="en-US" sz="16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Поука: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</a:t>
            </a:r>
            <a:r>
              <a:rPr lang="bg-BG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Изолирана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мрежа ≠ безопасна. Физически </a:t>
            </a:r>
            <a:r>
              <a:rPr lang="en-US" sz="1600" dirty="0" err="1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достъп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</a:t>
            </a:r>
            <a:r>
              <a:rPr lang="en-US" sz="1600" dirty="0" err="1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до</a:t>
            </a:r>
            <a:r>
              <a:rPr lang="bg-BG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дори изолирани </a:t>
            </a:r>
            <a:r>
              <a:rPr lang="en-US" sz="1600" dirty="0" err="1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систем</a:t>
            </a:r>
            <a:r>
              <a:rPr lang="bg-BG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и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</a:t>
            </a:r>
            <a:r>
              <a:rPr lang="bg-BG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винаги е възможен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.</a:t>
            </a:r>
            <a:endParaRPr lang="en-US" sz="16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6FAE84D-5DDE-24BE-1851-62B7512D7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893" y="2504837"/>
            <a:ext cx="2411968" cy="2411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D34FBDEB-9DB1-DB57-5596-C3ABB681FE45}"/>
              </a:ext>
            </a:extLst>
          </p:cNvPr>
          <p:cNvSpPr/>
          <p:nvPr/>
        </p:nvSpPr>
        <p:spPr>
          <a:xfrm>
            <a:off x="5235893" y="5200293"/>
            <a:ext cx="3668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Heathrow Airport (2017)</a:t>
            </a:r>
            <a:endParaRPr lang="en-US" sz="22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40F9DFF-6316-C552-CB65-A886CC205296}"/>
              </a:ext>
            </a:extLst>
          </p:cNvPr>
          <p:cNvSpPr/>
          <p:nvPr/>
        </p:nvSpPr>
        <p:spPr>
          <a:xfrm>
            <a:off x="5235893" y="5690711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Загуба на USB с лични данни на 1 000+ пътници. </a:t>
            </a:r>
            <a:endParaRPr lang="en-US" sz="16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Поука: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Криптирането е задължително. GDPR глоба £120K за несъответствие с регулациите.</a:t>
            </a:r>
            <a:endParaRPr lang="en-US" sz="16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D3CB798D-44E7-F3BA-A9DB-950C2F2C7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2504837"/>
            <a:ext cx="2411968" cy="2411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20B661D9-C5ED-1C81-E694-0B3ADE7B4FD6}"/>
              </a:ext>
            </a:extLst>
          </p:cNvPr>
          <p:cNvSpPr/>
          <p:nvPr/>
        </p:nvSpPr>
        <p:spPr>
          <a:xfrm>
            <a:off x="9677995" y="5200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IBM (2018)</a:t>
            </a:r>
            <a:endParaRPr lang="en-US" sz="2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A628E3B-6040-7F01-020D-6D55AABAD676}"/>
              </a:ext>
            </a:extLst>
          </p:cNvPr>
          <p:cNvSpPr/>
          <p:nvPr/>
        </p:nvSpPr>
        <p:spPr>
          <a:xfrm>
            <a:off x="9677995" y="5690711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Въвеждане </a:t>
            </a:r>
            <a:r>
              <a:rPr lang="en-US" sz="1600" dirty="0" err="1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на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</a:t>
            </a:r>
            <a:r>
              <a:rPr lang="en-US" sz="1600" dirty="0" err="1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комплексна</a:t>
            </a:r>
            <a:r>
              <a:rPr lang="bg-BG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и много строга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USB политика.</a:t>
            </a:r>
            <a:endParaRPr lang="en-US" sz="16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60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Поука: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Цялостен подход → –50% инциденти. </a:t>
            </a:r>
            <a:r>
              <a:rPr lang="en-US" sz="1600" dirty="0" err="1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Инвестиция</a:t>
            </a:r>
            <a:r>
              <a:rPr lang="bg-BG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та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в сигурност </a:t>
            </a:r>
            <a:r>
              <a:rPr lang="en-US" sz="1600" dirty="0" err="1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се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 </a:t>
            </a:r>
            <a:r>
              <a:rPr lang="bg-BG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отплаща</a:t>
            </a:r>
            <a:r>
              <a:rPr lang="en-US" sz="160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01274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EDA35-1A2F-DE09-E5B5-13081C52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6A93CC-6A22-F334-E0D0-D8B942ED4EEE}"/>
              </a:ext>
            </a:extLst>
          </p:cNvPr>
          <p:cNvSpPr/>
          <p:nvPr/>
        </p:nvSpPr>
        <p:spPr>
          <a:xfrm>
            <a:off x="793790" y="948333"/>
            <a:ext cx="487346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Приноси</a:t>
            </a:r>
            <a:r>
              <a:rPr lang="en-US" sz="2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и заключение</a:t>
            </a:r>
            <a:endParaRPr lang="en-US" sz="29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06E7879-DC47-47A5-2F36-5A44B2C7592E}"/>
              </a:ext>
            </a:extLst>
          </p:cNvPr>
          <p:cNvSpPr/>
          <p:nvPr/>
        </p:nvSpPr>
        <p:spPr>
          <a:xfrm>
            <a:off x="793790" y="1600676"/>
            <a:ext cx="13042821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Всички поставени цели са постигнати успешно.</a:t>
            </a:r>
            <a:endParaRPr lang="en-US" sz="14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C832EC7-2544-6A42-993F-A50050BD0C16}"/>
              </a:ext>
            </a:extLst>
          </p:cNvPr>
          <p:cNvSpPr/>
          <p:nvPr/>
        </p:nvSpPr>
        <p:spPr>
          <a:xfrm>
            <a:off x="793790" y="1951673"/>
            <a:ext cx="13042821" cy="1881545"/>
          </a:xfrm>
          <a:prstGeom prst="roundRect">
            <a:avLst>
              <a:gd name="adj" fmla="val 48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1DE6E14-E81A-B716-B676-0BAB35B569E4}"/>
              </a:ext>
            </a:extLst>
          </p:cNvPr>
          <p:cNvSpPr/>
          <p:nvPr/>
        </p:nvSpPr>
        <p:spPr>
          <a:xfrm>
            <a:off x="801410" y="1959293"/>
            <a:ext cx="13027581" cy="3732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B4EB7F1-A253-8EBD-A45C-6E194038B892}"/>
              </a:ext>
            </a:extLst>
          </p:cNvPr>
          <p:cNvSpPr/>
          <p:nvPr/>
        </p:nvSpPr>
        <p:spPr>
          <a:xfrm>
            <a:off x="948928" y="2024301"/>
            <a:ext cx="2958227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Задача</a:t>
            </a:r>
            <a:endParaRPr lang="en-US" sz="1450" b="1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ADABB12-9A86-F43A-3FF3-991DC2255B00}"/>
              </a:ext>
            </a:extLst>
          </p:cNvPr>
          <p:cNvSpPr/>
          <p:nvPr/>
        </p:nvSpPr>
        <p:spPr>
          <a:xfrm>
            <a:off x="4209574" y="2024301"/>
            <a:ext cx="4257199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Реализация</a:t>
            </a:r>
            <a:endParaRPr lang="en-US" sz="1450" b="1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D714C7D-F3AB-4082-38A7-FF215936F3FE}"/>
              </a:ext>
            </a:extLst>
          </p:cNvPr>
          <p:cNvSpPr/>
          <p:nvPr/>
        </p:nvSpPr>
        <p:spPr>
          <a:xfrm>
            <a:off x="8769191" y="2024301"/>
            <a:ext cx="4912400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Резултат</a:t>
            </a:r>
            <a:endParaRPr lang="en-US" sz="1450" b="1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721C801-3062-96E0-F639-B90F446F150E}"/>
              </a:ext>
            </a:extLst>
          </p:cNvPr>
          <p:cNvSpPr/>
          <p:nvPr/>
        </p:nvSpPr>
        <p:spPr>
          <a:xfrm>
            <a:off x="801410" y="2332553"/>
            <a:ext cx="13027581" cy="3732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345FE58-7C3E-B273-4BC5-5F0E6FF29F3F}"/>
              </a:ext>
            </a:extLst>
          </p:cNvPr>
          <p:cNvSpPr/>
          <p:nvPr/>
        </p:nvSpPr>
        <p:spPr>
          <a:xfrm>
            <a:off x="948928" y="2397562"/>
            <a:ext cx="2958227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1. Класификация</a:t>
            </a:r>
            <a:endParaRPr lang="en-US" sz="1450" b="1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3680800-93D5-58FF-AD00-1E24B7B6E14D}"/>
              </a:ext>
            </a:extLst>
          </p:cNvPr>
          <p:cNvSpPr/>
          <p:nvPr/>
        </p:nvSpPr>
        <p:spPr>
          <a:xfrm>
            <a:off x="4209574" y="2397562"/>
            <a:ext cx="4257199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Раздел 2.1, Таблици 1–2</a:t>
            </a:r>
            <a:endParaRPr lang="en-US" sz="14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B2F8EFC-3C0A-7BC8-B230-B69A880E2754}"/>
              </a:ext>
            </a:extLst>
          </p:cNvPr>
          <p:cNvSpPr/>
          <p:nvPr/>
        </p:nvSpPr>
        <p:spPr>
          <a:xfrm>
            <a:off x="8769191" y="2397562"/>
            <a:ext cx="4912400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5 типа, 7 интерфейса</a:t>
            </a:r>
            <a:endParaRPr lang="en-US" sz="14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79D3283-330F-BE9F-D7F6-A41E1FC173C8}"/>
              </a:ext>
            </a:extLst>
          </p:cNvPr>
          <p:cNvSpPr/>
          <p:nvPr/>
        </p:nvSpPr>
        <p:spPr>
          <a:xfrm>
            <a:off x="801410" y="2705814"/>
            <a:ext cx="13027581" cy="3732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4BBE4FB-D44A-44C1-203C-3192BE922922}"/>
              </a:ext>
            </a:extLst>
          </p:cNvPr>
          <p:cNvSpPr/>
          <p:nvPr/>
        </p:nvSpPr>
        <p:spPr>
          <a:xfrm>
            <a:off x="948928" y="2770823"/>
            <a:ext cx="2958227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2. Рискове</a:t>
            </a:r>
            <a:endParaRPr lang="en-US" sz="1450" b="1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AEED408-31A5-E439-D3D6-B4D45A7BEE6F}"/>
              </a:ext>
            </a:extLst>
          </p:cNvPr>
          <p:cNvSpPr/>
          <p:nvPr/>
        </p:nvSpPr>
        <p:spPr>
          <a:xfrm>
            <a:off x="4209574" y="2770823"/>
            <a:ext cx="4257199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Раздел 3.1, Таблица 3</a:t>
            </a:r>
            <a:endParaRPr lang="en-US" sz="14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1ABBE00-E754-A0C1-314E-9BD6AAE3B2C1}"/>
              </a:ext>
            </a:extLst>
          </p:cNvPr>
          <p:cNvSpPr/>
          <p:nvPr/>
        </p:nvSpPr>
        <p:spPr>
          <a:xfrm>
            <a:off x="8769191" y="2770823"/>
            <a:ext cx="4912400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8 риска по NIST</a:t>
            </a:r>
            <a:endParaRPr lang="en-US" sz="14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958EF9F-8265-D724-5485-B1B606361AB4}"/>
              </a:ext>
            </a:extLst>
          </p:cNvPr>
          <p:cNvSpPr/>
          <p:nvPr/>
        </p:nvSpPr>
        <p:spPr>
          <a:xfrm>
            <a:off x="801410" y="3079075"/>
            <a:ext cx="13027581" cy="3732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BF39B8D-E730-A969-0F90-34C9BF027C21}"/>
              </a:ext>
            </a:extLst>
          </p:cNvPr>
          <p:cNvSpPr/>
          <p:nvPr/>
        </p:nvSpPr>
        <p:spPr>
          <a:xfrm>
            <a:off x="948928" y="3144083"/>
            <a:ext cx="2958227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3. Защита</a:t>
            </a:r>
            <a:endParaRPr lang="en-US" sz="1450" b="1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269E1E2-014B-D1F6-8027-18F339FB03C9}"/>
              </a:ext>
            </a:extLst>
          </p:cNvPr>
          <p:cNvSpPr/>
          <p:nvPr/>
        </p:nvSpPr>
        <p:spPr>
          <a:xfrm>
            <a:off x="4209574" y="3144083"/>
            <a:ext cx="4257199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Раздел 3.2, Таблици 4, 6</a:t>
            </a:r>
            <a:endParaRPr lang="en-US" sz="14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6058034-3493-F7C0-17D0-820AD8C14887}"/>
              </a:ext>
            </a:extLst>
          </p:cNvPr>
          <p:cNvSpPr/>
          <p:nvPr/>
        </p:nvSpPr>
        <p:spPr>
          <a:xfrm>
            <a:off x="8769191" y="3144083"/>
            <a:ext cx="4912400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3 решения, Defense in Depth</a:t>
            </a:r>
            <a:endParaRPr lang="en-US" sz="14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1951418-3BFD-00F7-16D6-F3C77745ED85}"/>
              </a:ext>
            </a:extLst>
          </p:cNvPr>
          <p:cNvSpPr/>
          <p:nvPr/>
        </p:nvSpPr>
        <p:spPr>
          <a:xfrm>
            <a:off x="801410" y="3452336"/>
            <a:ext cx="13027581" cy="3732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B950EEE-0459-A713-72DF-23D9D200362A}"/>
              </a:ext>
            </a:extLst>
          </p:cNvPr>
          <p:cNvSpPr/>
          <p:nvPr/>
        </p:nvSpPr>
        <p:spPr>
          <a:xfrm>
            <a:off x="948928" y="3517344"/>
            <a:ext cx="2958227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4. Практика</a:t>
            </a:r>
            <a:endParaRPr lang="en-US" sz="1450" b="1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990C134C-0A18-E573-DD6D-1EDAEC8C01C1}"/>
              </a:ext>
            </a:extLst>
          </p:cNvPr>
          <p:cNvSpPr/>
          <p:nvPr/>
        </p:nvSpPr>
        <p:spPr>
          <a:xfrm>
            <a:off x="4209574" y="3517344"/>
            <a:ext cx="4257199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Раздел 3.6, Фиг. 1–8</a:t>
            </a:r>
            <a:endParaRPr lang="en-US" sz="14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6440D99-4D16-9FA6-59A2-2D87CB93DD60}"/>
              </a:ext>
            </a:extLst>
          </p:cNvPr>
          <p:cNvSpPr/>
          <p:nvPr/>
        </p:nvSpPr>
        <p:spPr>
          <a:xfrm>
            <a:off x="8769191" y="3517344"/>
            <a:ext cx="4912400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GPO + BitLocker в AD</a:t>
            </a:r>
            <a:endParaRPr lang="en-US" sz="145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0C1BC27B-143B-56E0-FF51-5ECDF1B5738E}"/>
              </a:ext>
            </a:extLst>
          </p:cNvPr>
          <p:cNvSpPr/>
          <p:nvPr/>
        </p:nvSpPr>
        <p:spPr>
          <a:xfrm>
            <a:off x="793790" y="3940969"/>
            <a:ext cx="6473547" cy="1622227"/>
          </a:xfrm>
          <a:prstGeom prst="roundRect">
            <a:avLst>
              <a:gd name="adj" fmla="val 564"/>
            </a:avLst>
          </a:prstGeom>
          <a:solidFill>
            <a:srgbClr val="F8ECE4"/>
          </a:solidFill>
          <a:ln w="7620">
            <a:solidFill>
              <a:srgbClr val="1A2D7A"/>
            </a:solidFill>
            <a:prstDash val="solid"/>
          </a:ln>
          <a:effectLst>
            <a:outerShdw dist="19050" dir="2700000" algn="bl" rotWithShape="0">
              <a:srgbClr val="1A2D7A">
                <a:alpha val="100000"/>
              </a:srgbClr>
            </a:outerShdw>
          </a:effectLst>
        </p:spPr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F99428CC-095F-6CA9-EDE4-6C99348690B0}"/>
              </a:ext>
            </a:extLst>
          </p:cNvPr>
          <p:cNvSpPr/>
          <p:nvPr/>
        </p:nvSpPr>
        <p:spPr>
          <a:xfrm>
            <a:off x="948809" y="4095988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A2D7A"/>
          </a:solidFill>
          <a:ln/>
        </p:spPr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93680574-7E1D-0D60-A76C-6AD95FBB0B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372" y="4217551"/>
            <a:ext cx="198953" cy="198953"/>
          </a:xfrm>
          <a:prstGeom prst="rect">
            <a:avLst/>
          </a:prstGeom>
        </p:spPr>
      </p:pic>
      <p:sp>
        <p:nvSpPr>
          <p:cNvPr id="29" name="Text 25">
            <a:extLst>
              <a:ext uri="{FF2B5EF4-FFF2-40B4-BE49-F238E27FC236}">
                <a16:creationId xmlns:a16="http://schemas.microsoft.com/office/drawing/2014/main" id="{BDBE9CE7-D5BF-1949-D568-2AD357897FBA}"/>
              </a:ext>
            </a:extLst>
          </p:cNvPr>
          <p:cNvSpPr/>
          <p:nvPr/>
        </p:nvSpPr>
        <p:spPr>
          <a:xfrm>
            <a:off x="948809" y="4633913"/>
            <a:ext cx="251662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Inconsolata Medium" pitchFamily="1" charset="0"/>
                <a:cs typeface="Montserrat Black" pitchFamily="34" charset="-120"/>
              </a:rPr>
              <a:t>Систематизиран анализ</a:t>
            </a:r>
            <a:endParaRPr lang="en-US" sz="145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6F7DBF64-1DF9-11C0-FC5B-3E1E35CDDACC}"/>
              </a:ext>
            </a:extLst>
          </p:cNvPr>
          <p:cNvSpPr/>
          <p:nvPr/>
        </p:nvSpPr>
        <p:spPr>
          <a:xfrm>
            <a:off x="948809" y="4921687"/>
            <a:ext cx="6163508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Класификация на 5 типа устройства и 7 интерфейса със съпоставка на характеристики</a:t>
            </a:r>
            <a:endParaRPr lang="en-US" sz="145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A962692E-66F4-EDB8-27FC-5C8FF6C3733F}"/>
              </a:ext>
            </a:extLst>
          </p:cNvPr>
          <p:cNvSpPr/>
          <p:nvPr/>
        </p:nvSpPr>
        <p:spPr>
          <a:xfrm>
            <a:off x="7363063" y="3940969"/>
            <a:ext cx="6473547" cy="1622227"/>
          </a:xfrm>
          <a:prstGeom prst="roundRect">
            <a:avLst>
              <a:gd name="adj" fmla="val 564"/>
            </a:avLst>
          </a:prstGeom>
          <a:solidFill>
            <a:srgbClr val="F8ECE4"/>
          </a:solidFill>
          <a:ln w="7620">
            <a:solidFill>
              <a:srgbClr val="1A2D7A"/>
            </a:solidFill>
            <a:prstDash val="solid"/>
          </a:ln>
          <a:effectLst>
            <a:outerShdw dist="19050" dir="2700000" algn="bl" rotWithShape="0">
              <a:srgbClr val="1A2D7A">
                <a:alpha val="100000"/>
              </a:srgbClr>
            </a:outerShdw>
          </a:effectLst>
        </p:spPr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30B79F1C-5164-F959-5867-A6B8F8DE987E}"/>
              </a:ext>
            </a:extLst>
          </p:cNvPr>
          <p:cNvSpPr/>
          <p:nvPr/>
        </p:nvSpPr>
        <p:spPr>
          <a:xfrm>
            <a:off x="7518083" y="4095988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A2D7A"/>
          </a:solidFill>
          <a:ln/>
        </p:spPr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64CD9CD3-AD2B-3417-ACCA-7DE5C050EC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9645" y="4217551"/>
            <a:ext cx="198953" cy="198953"/>
          </a:xfrm>
          <a:prstGeom prst="rect">
            <a:avLst/>
          </a:prstGeom>
        </p:spPr>
      </p:pic>
      <p:sp>
        <p:nvSpPr>
          <p:cNvPr id="34" name="Text 29">
            <a:extLst>
              <a:ext uri="{FF2B5EF4-FFF2-40B4-BE49-F238E27FC236}">
                <a16:creationId xmlns:a16="http://schemas.microsoft.com/office/drawing/2014/main" id="{54A1DB56-D43D-270E-D7A0-3142B8760478}"/>
              </a:ext>
            </a:extLst>
          </p:cNvPr>
          <p:cNvSpPr/>
          <p:nvPr/>
        </p:nvSpPr>
        <p:spPr>
          <a:xfrm>
            <a:off x="7518083" y="4633913"/>
            <a:ext cx="188297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Матрица на риска</a:t>
            </a:r>
            <a:endParaRPr lang="en-US" sz="145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C8AA3321-E616-066D-C4F0-93652C25C950}"/>
              </a:ext>
            </a:extLst>
          </p:cNvPr>
          <p:cNvSpPr/>
          <p:nvPr/>
        </p:nvSpPr>
        <p:spPr>
          <a:xfrm>
            <a:off x="7518083" y="4921687"/>
            <a:ext cx="6163508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Оценка на 8 риска по NIST SP 800-30 с приоритизация по вероятност и въздействие</a:t>
            </a:r>
            <a:endParaRPr lang="en-US" sz="1450" dirty="0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E2187D99-B109-BC5C-156F-02AB97490911}"/>
              </a:ext>
            </a:extLst>
          </p:cNvPr>
          <p:cNvSpPr/>
          <p:nvPr/>
        </p:nvSpPr>
        <p:spPr>
          <a:xfrm>
            <a:off x="793790" y="5658922"/>
            <a:ext cx="6473547" cy="1622227"/>
          </a:xfrm>
          <a:prstGeom prst="roundRect">
            <a:avLst>
              <a:gd name="adj" fmla="val 564"/>
            </a:avLst>
          </a:prstGeom>
          <a:solidFill>
            <a:srgbClr val="F8ECE4"/>
          </a:solidFill>
          <a:ln w="7620">
            <a:solidFill>
              <a:srgbClr val="1A2D7A"/>
            </a:solidFill>
            <a:prstDash val="solid"/>
          </a:ln>
          <a:effectLst>
            <a:outerShdw dist="19050" dir="2700000" algn="bl" rotWithShape="0">
              <a:srgbClr val="1A2D7A">
                <a:alpha val="100000"/>
              </a:srgbClr>
            </a:outerShdw>
          </a:effectLst>
        </p:spPr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E7D2A986-CC3E-BDEC-D1BB-B7A5F5FE7325}"/>
              </a:ext>
            </a:extLst>
          </p:cNvPr>
          <p:cNvSpPr/>
          <p:nvPr/>
        </p:nvSpPr>
        <p:spPr>
          <a:xfrm>
            <a:off x="948809" y="5813941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A2D7A"/>
          </a:solidFill>
          <a:ln/>
        </p:spPr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ADF45776-673D-E5D1-178B-59342C1FC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372" y="5935504"/>
            <a:ext cx="198953" cy="198953"/>
          </a:xfrm>
          <a:prstGeom prst="rect">
            <a:avLst/>
          </a:prstGeom>
        </p:spPr>
      </p:pic>
      <p:sp>
        <p:nvSpPr>
          <p:cNvPr id="39" name="Text 33">
            <a:extLst>
              <a:ext uri="{FF2B5EF4-FFF2-40B4-BE49-F238E27FC236}">
                <a16:creationId xmlns:a16="http://schemas.microsoft.com/office/drawing/2014/main" id="{2A5CD5C6-6E2E-7001-E159-60A4BBEA7DA8}"/>
              </a:ext>
            </a:extLst>
          </p:cNvPr>
          <p:cNvSpPr/>
          <p:nvPr/>
        </p:nvSpPr>
        <p:spPr>
          <a:xfrm>
            <a:off x="948809" y="6351865"/>
            <a:ext cx="247947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Модел Defense in Depth</a:t>
            </a:r>
            <a:endParaRPr lang="en-US" sz="145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DBEDA608-F390-38CE-50C4-F9DC5C57407D}"/>
              </a:ext>
            </a:extLst>
          </p:cNvPr>
          <p:cNvSpPr/>
          <p:nvPr/>
        </p:nvSpPr>
        <p:spPr>
          <a:xfrm>
            <a:off x="948809" y="6639639"/>
            <a:ext cx="6163508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Многослойна защита с криптиране, антивирус, контрол на достъп и одит</a:t>
            </a:r>
            <a:endParaRPr lang="en-US" sz="1450" dirty="0"/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08B42026-8D7F-3C9F-A83B-46DBC0AEC967}"/>
              </a:ext>
            </a:extLst>
          </p:cNvPr>
          <p:cNvSpPr/>
          <p:nvPr/>
        </p:nvSpPr>
        <p:spPr>
          <a:xfrm>
            <a:off x="7363063" y="5658922"/>
            <a:ext cx="6473547" cy="1622227"/>
          </a:xfrm>
          <a:prstGeom prst="roundRect">
            <a:avLst>
              <a:gd name="adj" fmla="val 564"/>
            </a:avLst>
          </a:prstGeom>
          <a:solidFill>
            <a:srgbClr val="F8ECE4"/>
          </a:solidFill>
          <a:ln w="7620">
            <a:solidFill>
              <a:srgbClr val="1A2D7A"/>
            </a:solidFill>
            <a:prstDash val="solid"/>
          </a:ln>
          <a:effectLst>
            <a:outerShdw dist="19050" dir="2700000" algn="bl" rotWithShape="0">
              <a:srgbClr val="1A2D7A">
                <a:alpha val="100000"/>
              </a:srgbClr>
            </a:outerShdw>
          </a:effectLst>
        </p:spPr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47180AAB-8EBB-EB07-35B0-75C4880FFCD3}"/>
              </a:ext>
            </a:extLst>
          </p:cNvPr>
          <p:cNvSpPr/>
          <p:nvPr/>
        </p:nvSpPr>
        <p:spPr>
          <a:xfrm>
            <a:off x="7518083" y="5813941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A2D7A"/>
          </a:solidFill>
          <a:ln/>
        </p:spPr>
      </p:sp>
      <p:pic>
        <p:nvPicPr>
          <p:cNvPr id="43" name="Image 3" descr="preencoded.png">
            <a:extLst>
              <a:ext uri="{FF2B5EF4-FFF2-40B4-BE49-F238E27FC236}">
                <a16:creationId xmlns:a16="http://schemas.microsoft.com/office/drawing/2014/main" id="{82D8AF9B-900D-A70E-A86A-40C819DA0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9645" y="5935504"/>
            <a:ext cx="198953" cy="198953"/>
          </a:xfrm>
          <a:prstGeom prst="rect">
            <a:avLst/>
          </a:prstGeom>
        </p:spPr>
      </p:pic>
      <p:sp>
        <p:nvSpPr>
          <p:cNvPr id="44" name="Text 37">
            <a:extLst>
              <a:ext uri="{FF2B5EF4-FFF2-40B4-BE49-F238E27FC236}">
                <a16:creationId xmlns:a16="http://schemas.microsoft.com/office/drawing/2014/main" id="{62E634E5-7C33-C3B7-3F7E-9F5BB0E4932D}"/>
              </a:ext>
            </a:extLst>
          </p:cNvPr>
          <p:cNvSpPr/>
          <p:nvPr/>
        </p:nvSpPr>
        <p:spPr>
          <a:xfrm>
            <a:off x="7518083" y="6351865"/>
            <a:ext cx="215634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Чеклист NIST CSF 2.0</a:t>
            </a:r>
            <a:endParaRPr lang="en-US" sz="1450" dirty="0"/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8BF1F6FB-5795-2C90-EEA6-8D461E3202DA}"/>
              </a:ext>
            </a:extLst>
          </p:cNvPr>
          <p:cNvSpPr/>
          <p:nvPr/>
        </p:nvSpPr>
        <p:spPr>
          <a:xfrm>
            <a:off x="7518083" y="6639639"/>
            <a:ext cx="6163508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Практически чеклист за имплементация в организация по рамката NIST Cybersecurity Framework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2980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FD1E-F89C-651B-D11B-514383541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659041-53BC-9BE0-A268-1F58F44E8EE2}"/>
              </a:ext>
            </a:extLst>
          </p:cNvPr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C316BC4-6AE3-3BD3-0DE3-0C253D480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633" y="1479233"/>
            <a:ext cx="5271135" cy="5271135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52732335-6052-DC22-27CC-FFD4C6EB4E9E}"/>
              </a:ext>
            </a:extLst>
          </p:cNvPr>
          <p:cNvSpPr/>
          <p:nvPr/>
        </p:nvSpPr>
        <p:spPr>
          <a:xfrm>
            <a:off x="793790" y="1172885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Благодаря за вниманието!</a:t>
            </a:r>
            <a:endParaRPr lang="en-US" sz="42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DCFCBF5-98D8-A377-1576-DA9A1B690DDA}"/>
              </a:ext>
            </a:extLst>
          </p:cNvPr>
          <p:cNvSpPr/>
          <p:nvPr/>
        </p:nvSpPr>
        <p:spPr>
          <a:xfrm>
            <a:off x="793790" y="2880598"/>
            <a:ext cx="7556421" cy="16073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9465986-9E61-EB03-8CA1-D98C13313182}"/>
              </a:ext>
            </a:extLst>
          </p:cNvPr>
          <p:cNvSpPr/>
          <p:nvPr/>
        </p:nvSpPr>
        <p:spPr>
          <a:xfrm>
            <a:off x="793790" y="3180755"/>
            <a:ext cx="75564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Георги Емилов Исаев</a:t>
            </a:r>
            <a:endParaRPr lang="en-US" sz="16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DC41EA5-E416-D877-8FC0-1C0C77808DAF}"/>
              </a:ext>
            </a:extLst>
          </p:cNvPr>
          <p:cNvSpPr/>
          <p:nvPr/>
        </p:nvSpPr>
        <p:spPr>
          <a:xfrm>
            <a:off x="793790" y="3747135"/>
            <a:ext cx="75564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НФСГ София | Икономическа информатика | 2025/2026</a:t>
            </a:r>
            <a:endParaRPr lang="en-US" sz="16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6D3F622A-12E0-3055-8ABF-BE1636C09E25}"/>
              </a:ext>
            </a:extLst>
          </p:cNvPr>
          <p:cNvSpPr/>
          <p:nvPr/>
        </p:nvSpPr>
        <p:spPr>
          <a:xfrm>
            <a:off x="793790" y="4367332"/>
            <a:ext cx="7556421" cy="16073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4D06C9F-BA84-0C55-AB8C-95C1120E3BA2}"/>
              </a:ext>
            </a:extLst>
          </p:cNvPr>
          <p:cNvSpPr/>
          <p:nvPr/>
        </p:nvSpPr>
        <p:spPr>
          <a:xfrm>
            <a:off x="793790" y="4667488"/>
            <a:ext cx="75564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diploma.isaewwxx.dev</a:t>
            </a:r>
            <a:endParaRPr lang="en-US" sz="16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5CFA080-A726-E318-CDB8-08B4AF324066}"/>
              </a:ext>
            </a:extLst>
          </p:cNvPr>
          <p:cNvSpPr/>
          <p:nvPr/>
        </p:nvSpPr>
        <p:spPr>
          <a:xfrm>
            <a:off x="793790" y="5233868"/>
            <a:ext cx="75564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github.com/isaewwxx</a:t>
            </a:r>
            <a:endParaRPr lang="en-US" sz="16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EAB9922-2A22-B6A3-6B60-D1C87861B4E7}"/>
              </a:ext>
            </a:extLst>
          </p:cNvPr>
          <p:cNvSpPr/>
          <p:nvPr/>
        </p:nvSpPr>
        <p:spPr>
          <a:xfrm>
            <a:off x="793790" y="5800249"/>
            <a:ext cx="75564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georgi@capybarahost.eu</a:t>
            </a:r>
            <a:endParaRPr lang="en-US" sz="16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846887B-0446-7678-5246-9EAB9D40E8CE}"/>
              </a:ext>
            </a:extLst>
          </p:cNvPr>
          <p:cNvSpPr/>
          <p:nvPr/>
        </p:nvSpPr>
        <p:spPr>
          <a:xfrm>
            <a:off x="793790" y="6420445"/>
            <a:ext cx="7556421" cy="16073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FAA29AE-A4E0-390A-1573-C964181C1D36}"/>
              </a:ext>
            </a:extLst>
          </p:cNvPr>
          <p:cNvSpPr/>
          <p:nvPr/>
        </p:nvSpPr>
        <p:spPr>
          <a:xfrm>
            <a:off x="793790" y="6720602"/>
            <a:ext cx="75564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 Medium" pitchFamily="34" charset="0"/>
                <a:ea typeface="Inconsolata Medium" pitchFamily="34" charset="-122"/>
                <a:cs typeface="Inconsolata Medium" pitchFamily="34" charset="-120"/>
              </a:rPr>
              <a:t>Готов съм за въпроси.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71793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716</Words>
  <Application>Microsoft Office PowerPoint</Application>
  <PresentationFormat>Custom</PresentationFormat>
  <Paragraphs>127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Montserrat Light</vt:lpstr>
      <vt:lpstr>Montserrat Black</vt:lpstr>
      <vt:lpstr>Inconsolata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Georgi Isaev</dc:creator>
  <cp:lastModifiedBy>Georgi Isaev</cp:lastModifiedBy>
  <cp:revision>15</cp:revision>
  <dcterms:created xsi:type="dcterms:W3CDTF">2026-04-13T22:36:51Z</dcterms:created>
  <dcterms:modified xsi:type="dcterms:W3CDTF">2026-05-18T12:52:17Z</dcterms:modified>
</cp:coreProperties>
</file>